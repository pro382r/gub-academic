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chitype Van Doesburg" panose="020B0604020202020204" charset="0"/>
      <p:regular r:id="rId10"/>
    </p:embeddedFon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Montserrat Semi-Bold" panose="020B0604020202020204" charset="0"/>
      <p:regular r:id="rId15"/>
    </p:embeddedFont>
    <p:embeddedFont>
      <p:font typeface="Poppins" panose="00000500000000000000" pitchFamily="2" charset="0"/>
      <p:regular r:id="rId16"/>
    </p:embeddedFont>
    <p:embeddedFont>
      <p:font typeface="Poppins Bold" panose="00000800000000000000" charset="0"/>
      <p:regular r:id="rId17"/>
    </p:embeddedFont>
    <p:embeddedFont>
      <p:font typeface="Poppins Italic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100" d="100"/>
          <a:sy n="100" d="100"/>
        </p:scale>
        <p:origin x="-3228" y="-44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28.png"/><Relationship Id="rId7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54235" y="6450699"/>
            <a:ext cx="1681329" cy="1688234"/>
          </a:xfrm>
          <a:custGeom>
            <a:avLst/>
            <a:gdLst/>
            <a:ahLst/>
            <a:cxnLst/>
            <a:rect l="l" t="t" r="r" b="b"/>
            <a:pathLst>
              <a:path w="1681329" h="1688234">
                <a:moveTo>
                  <a:pt x="0" y="0"/>
                </a:moveTo>
                <a:lnTo>
                  <a:pt x="1681329" y="0"/>
                </a:lnTo>
                <a:lnTo>
                  <a:pt x="1681329" y="1688234"/>
                </a:lnTo>
                <a:lnTo>
                  <a:pt x="0" y="1688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59411" y="723019"/>
            <a:ext cx="528304" cy="611362"/>
          </a:xfrm>
          <a:custGeom>
            <a:avLst/>
            <a:gdLst/>
            <a:ahLst/>
            <a:cxnLst/>
            <a:rect l="l" t="t" r="r" b="b"/>
            <a:pathLst>
              <a:path w="528304" h="611362">
                <a:moveTo>
                  <a:pt x="0" y="0"/>
                </a:moveTo>
                <a:lnTo>
                  <a:pt x="528304" y="0"/>
                </a:lnTo>
                <a:lnTo>
                  <a:pt x="528304" y="611362"/>
                </a:lnTo>
                <a:lnTo>
                  <a:pt x="0" y="6113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623493" y="6609216"/>
            <a:ext cx="5590915" cy="1329278"/>
          </a:xfrm>
          <a:custGeom>
            <a:avLst/>
            <a:gdLst/>
            <a:ahLst/>
            <a:cxnLst/>
            <a:rect l="l" t="t" r="r" b="b"/>
            <a:pathLst>
              <a:path w="5590915" h="1329278">
                <a:moveTo>
                  <a:pt x="0" y="0"/>
                </a:moveTo>
                <a:lnTo>
                  <a:pt x="5590916" y="0"/>
                </a:lnTo>
                <a:lnTo>
                  <a:pt x="5590916" y="1329278"/>
                </a:lnTo>
                <a:lnTo>
                  <a:pt x="0" y="13292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19022" y="6267405"/>
            <a:ext cx="6458316" cy="1671089"/>
          </a:xfrm>
          <a:custGeom>
            <a:avLst/>
            <a:gdLst/>
            <a:ahLst/>
            <a:cxnLst/>
            <a:rect l="l" t="t" r="r" b="b"/>
            <a:pathLst>
              <a:path w="6458316" h="1671089">
                <a:moveTo>
                  <a:pt x="0" y="0"/>
                </a:moveTo>
                <a:lnTo>
                  <a:pt x="6458316" y="0"/>
                </a:lnTo>
                <a:lnTo>
                  <a:pt x="6458316" y="1671089"/>
                </a:lnTo>
                <a:lnTo>
                  <a:pt x="0" y="16710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0534" y="4480977"/>
            <a:ext cx="207297" cy="915084"/>
          </a:xfrm>
          <a:custGeom>
            <a:avLst/>
            <a:gdLst/>
            <a:ahLst/>
            <a:cxnLst/>
            <a:rect l="l" t="t" r="r" b="b"/>
            <a:pathLst>
              <a:path w="207297" h="915084">
                <a:moveTo>
                  <a:pt x="0" y="0"/>
                </a:moveTo>
                <a:lnTo>
                  <a:pt x="207297" y="0"/>
                </a:lnTo>
                <a:lnTo>
                  <a:pt x="207297" y="915084"/>
                </a:lnTo>
                <a:lnTo>
                  <a:pt x="0" y="9150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972734" y="4921472"/>
            <a:ext cx="456709" cy="447665"/>
          </a:xfrm>
          <a:custGeom>
            <a:avLst/>
            <a:gdLst/>
            <a:ahLst/>
            <a:cxnLst/>
            <a:rect l="l" t="t" r="r" b="b"/>
            <a:pathLst>
              <a:path w="456709" h="447665">
                <a:moveTo>
                  <a:pt x="0" y="0"/>
                </a:moveTo>
                <a:lnTo>
                  <a:pt x="456709" y="0"/>
                </a:lnTo>
                <a:lnTo>
                  <a:pt x="456709" y="447665"/>
                </a:lnTo>
                <a:lnTo>
                  <a:pt x="0" y="4476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201088" y="470193"/>
            <a:ext cx="941894" cy="864188"/>
          </a:xfrm>
          <a:custGeom>
            <a:avLst/>
            <a:gdLst/>
            <a:ahLst/>
            <a:cxnLst/>
            <a:rect l="l" t="t" r="r" b="b"/>
            <a:pathLst>
              <a:path w="941894" h="864188">
                <a:moveTo>
                  <a:pt x="0" y="0"/>
                </a:moveTo>
                <a:lnTo>
                  <a:pt x="941895" y="0"/>
                </a:lnTo>
                <a:lnTo>
                  <a:pt x="941895" y="864188"/>
                </a:lnTo>
                <a:lnTo>
                  <a:pt x="0" y="864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824646" y="241441"/>
            <a:ext cx="2962707" cy="1162064"/>
          </a:xfrm>
          <a:custGeom>
            <a:avLst/>
            <a:gdLst/>
            <a:ahLst/>
            <a:cxnLst/>
            <a:rect l="l" t="t" r="r" b="b"/>
            <a:pathLst>
              <a:path w="2962707" h="1162064">
                <a:moveTo>
                  <a:pt x="0" y="0"/>
                </a:moveTo>
                <a:lnTo>
                  <a:pt x="2962707" y="0"/>
                </a:lnTo>
                <a:lnTo>
                  <a:pt x="2962707" y="1162064"/>
                </a:lnTo>
                <a:lnTo>
                  <a:pt x="0" y="11620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5227164" y="5888241"/>
            <a:ext cx="7833673" cy="663825"/>
            <a:chOff x="0" y="0"/>
            <a:chExt cx="4795850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795850" cy="406400"/>
            </a:xfrm>
            <a:custGeom>
              <a:avLst/>
              <a:gdLst/>
              <a:ahLst/>
              <a:cxnLst/>
              <a:rect l="l" t="t" r="r" b="b"/>
              <a:pathLst>
                <a:path w="4795850" h="406400">
                  <a:moveTo>
                    <a:pt x="4592650" y="0"/>
                  </a:moveTo>
                  <a:cubicBezTo>
                    <a:pt x="4704874" y="0"/>
                    <a:pt x="4795850" y="90976"/>
                    <a:pt x="4795850" y="203200"/>
                  </a:cubicBezTo>
                  <a:cubicBezTo>
                    <a:pt x="4795850" y="315424"/>
                    <a:pt x="4704874" y="406400"/>
                    <a:pt x="459265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57150" cap="sq">
              <a:solidFill>
                <a:srgbClr val="80C772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79585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8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56373" y="7485013"/>
            <a:ext cx="6250545" cy="1794649"/>
            <a:chOff x="0" y="0"/>
            <a:chExt cx="1286120" cy="36926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86120" cy="369269"/>
            </a:xfrm>
            <a:custGeom>
              <a:avLst/>
              <a:gdLst/>
              <a:ahLst/>
              <a:cxnLst/>
              <a:rect l="l" t="t" r="r" b="b"/>
              <a:pathLst>
                <a:path w="1286120" h="369269">
                  <a:moveTo>
                    <a:pt x="24191" y="0"/>
                  </a:moveTo>
                  <a:lnTo>
                    <a:pt x="1261929" y="0"/>
                  </a:lnTo>
                  <a:cubicBezTo>
                    <a:pt x="1268345" y="0"/>
                    <a:pt x="1274498" y="2549"/>
                    <a:pt x="1279035" y="7085"/>
                  </a:cubicBezTo>
                  <a:cubicBezTo>
                    <a:pt x="1283572" y="11622"/>
                    <a:pt x="1286120" y="17775"/>
                    <a:pt x="1286120" y="24191"/>
                  </a:cubicBezTo>
                  <a:lnTo>
                    <a:pt x="1286120" y="345078"/>
                  </a:lnTo>
                  <a:cubicBezTo>
                    <a:pt x="1286120" y="351494"/>
                    <a:pt x="1283572" y="357647"/>
                    <a:pt x="1279035" y="362184"/>
                  </a:cubicBezTo>
                  <a:cubicBezTo>
                    <a:pt x="1274498" y="366721"/>
                    <a:pt x="1268345" y="369269"/>
                    <a:pt x="1261929" y="369269"/>
                  </a:cubicBezTo>
                  <a:lnTo>
                    <a:pt x="24191" y="369269"/>
                  </a:lnTo>
                  <a:cubicBezTo>
                    <a:pt x="17775" y="369269"/>
                    <a:pt x="11622" y="366721"/>
                    <a:pt x="7085" y="362184"/>
                  </a:cubicBezTo>
                  <a:cubicBezTo>
                    <a:pt x="2549" y="357647"/>
                    <a:pt x="0" y="351494"/>
                    <a:pt x="0" y="345078"/>
                  </a:cubicBezTo>
                  <a:lnTo>
                    <a:pt x="0" y="24191"/>
                  </a:lnTo>
                  <a:cubicBezTo>
                    <a:pt x="0" y="17775"/>
                    <a:pt x="2549" y="11622"/>
                    <a:pt x="7085" y="7085"/>
                  </a:cubicBezTo>
                  <a:cubicBezTo>
                    <a:pt x="11622" y="2549"/>
                    <a:pt x="17775" y="0"/>
                    <a:pt x="24191" y="0"/>
                  </a:cubicBezTo>
                  <a:close/>
                </a:path>
              </a:pathLst>
            </a:custGeom>
            <a:ln w="38100" cap="rnd">
              <a:solidFill>
                <a:srgbClr val="C1FF72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286120" cy="416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8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60357" y="2032155"/>
            <a:ext cx="16669086" cy="86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89"/>
              </a:lnSpc>
            </a:pPr>
            <a:r>
              <a:rPr lang="en-US" sz="6864">
                <a:solidFill>
                  <a:srgbClr val="C1FF72"/>
                </a:solidFill>
                <a:latin typeface="Architype Van Doesburg"/>
                <a:ea typeface="Architype Van Doesburg"/>
                <a:cs typeface="Architype Van Doesburg"/>
                <a:sym typeface="Architype Van Doesburg"/>
              </a:rPr>
              <a:t>INTELLIGENT SUDOKU SOLVER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84976" y="3142054"/>
            <a:ext cx="15457947" cy="33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89"/>
              </a:lnSpc>
            </a:pPr>
            <a:r>
              <a:rPr lang="en-US" sz="2566" b="1" spc="2053">
                <a:solidFill>
                  <a:srgbClr val="80C772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VISUALIZING AI SEARCH ALGORITHMS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94874" y="3983621"/>
            <a:ext cx="7270700" cy="1263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i="1" spc="-9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Artificial Intelligent Lab, Summer 2026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i="1" spc="-9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Department of Computer Science and Engineering 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i="1" spc="-95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Green University of Bangladesh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68978" y="5975751"/>
            <a:ext cx="8150045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spc="-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Course Code: CSE-316   |   Section: 242-D2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47207" y="7717591"/>
            <a:ext cx="5557270" cy="126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-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Created by,</a:t>
            </a:r>
          </a:p>
          <a:p>
            <a:pPr algn="l">
              <a:lnSpc>
                <a:spcPts val="3359"/>
              </a:lnSpc>
            </a:pPr>
            <a:r>
              <a:rPr lang="en-US" sz="2399" spc="-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Md. Reahoon Zannah - 223002038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-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Md. Aminul Islam - 223002004</a:t>
            </a:r>
          </a:p>
        </p:txBody>
      </p:sp>
      <p:sp>
        <p:nvSpPr>
          <p:cNvPr id="22" name="Freeform 22"/>
          <p:cNvSpPr/>
          <p:nvPr/>
        </p:nvSpPr>
        <p:spPr>
          <a:xfrm>
            <a:off x="9732570" y="273334"/>
            <a:ext cx="1257905" cy="1257905"/>
          </a:xfrm>
          <a:custGeom>
            <a:avLst/>
            <a:gdLst/>
            <a:ahLst/>
            <a:cxnLst/>
            <a:rect l="l" t="t" r="r" b="b"/>
            <a:pathLst>
              <a:path w="1257905" h="1257905">
                <a:moveTo>
                  <a:pt x="0" y="0"/>
                </a:moveTo>
                <a:lnTo>
                  <a:pt x="1257905" y="0"/>
                </a:lnTo>
                <a:lnTo>
                  <a:pt x="1257905" y="1257906"/>
                </a:lnTo>
                <a:lnTo>
                  <a:pt x="0" y="1257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9935564" y="7466466"/>
            <a:ext cx="6250545" cy="2171245"/>
            <a:chOff x="0" y="0"/>
            <a:chExt cx="1286120" cy="44675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86120" cy="446758"/>
            </a:xfrm>
            <a:custGeom>
              <a:avLst/>
              <a:gdLst/>
              <a:ahLst/>
              <a:cxnLst/>
              <a:rect l="l" t="t" r="r" b="b"/>
              <a:pathLst>
                <a:path w="1286120" h="446758">
                  <a:moveTo>
                    <a:pt x="24191" y="0"/>
                  </a:moveTo>
                  <a:lnTo>
                    <a:pt x="1261929" y="0"/>
                  </a:lnTo>
                  <a:cubicBezTo>
                    <a:pt x="1268345" y="0"/>
                    <a:pt x="1274498" y="2549"/>
                    <a:pt x="1279035" y="7085"/>
                  </a:cubicBezTo>
                  <a:cubicBezTo>
                    <a:pt x="1283572" y="11622"/>
                    <a:pt x="1286120" y="17775"/>
                    <a:pt x="1286120" y="24191"/>
                  </a:cubicBezTo>
                  <a:lnTo>
                    <a:pt x="1286120" y="422567"/>
                  </a:lnTo>
                  <a:cubicBezTo>
                    <a:pt x="1286120" y="428983"/>
                    <a:pt x="1283572" y="435136"/>
                    <a:pt x="1279035" y="439673"/>
                  </a:cubicBezTo>
                  <a:cubicBezTo>
                    <a:pt x="1274498" y="444209"/>
                    <a:pt x="1268345" y="446758"/>
                    <a:pt x="1261929" y="446758"/>
                  </a:cubicBezTo>
                  <a:lnTo>
                    <a:pt x="24191" y="446758"/>
                  </a:lnTo>
                  <a:cubicBezTo>
                    <a:pt x="17775" y="446758"/>
                    <a:pt x="11622" y="444209"/>
                    <a:pt x="7085" y="439673"/>
                  </a:cubicBezTo>
                  <a:cubicBezTo>
                    <a:pt x="2549" y="435136"/>
                    <a:pt x="0" y="428983"/>
                    <a:pt x="0" y="422567"/>
                  </a:cubicBezTo>
                  <a:lnTo>
                    <a:pt x="0" y="24191"/>
                  </a:lnTo>
                  <a:cubicBezTo>
                    <a:pt x="0" y="17775"/>
                    <a:pt x="2549" y="11622"/>
                    <a:pt x="7085" y="7085"/>
                  </a:cubicBezTo>
                  <a:cubicBezTo>
                    <a:pt x="11622" y="2549"/>
                    <a:pt x="17775" y="0"/>
                    <a:pt x="24191" y="0"/>
                  </a:cubicBezTo>
                  <a:close/>
                </a:path>
              </a:pathLst>
            </a:custGeom>
            <a:ln w="38100" cap="rnd">
              <a:solidFill>
                <a:srgbClr val="C1FF72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286120" cy="4943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8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326398" y="7699044"/>
            <a:ext cx="5557270" cy="1681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-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to,</a:t>
            </a:r>
          </a:p>
          <a:p>
            <a:pPr algn="l">
              <a:lnSpc>
                <a:spcPts val="3359"/>
              </a:lnSpc>
            </a:pPr>
            <a:r>
              <a:rPr lang="en-US" sz="2399" spc="-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Sian Ashsad</a:t>
            </a:r>
          </a:p>
          <a:p>
            <a:pPr algn="l">
              <a:lnSpc>
                <a:spcPts val="3359"/>
              </a:lnSpc>
            </a:pPr>
            <a:r>
              <a:rPr lang="en-US" sz="2399" spc="-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Lecturer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 spc="-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Dept of SWE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63905" y="9784487"/>
            <a:ext cx="2846896" cy="341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spcBef>
                <a:spcPct val="0"/>
              </a:spcBef>
            </a:pPr>
            <a:r>
              <a:rPr lang="en-US" sz="1998" spc="-79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14 August 2026</a:t>
            </a:r>
          </a:p>
        </p:txBody>
      </p:sp>
      <p:grpSp>
        <p:nvGrpSpPr>
          <p:cNvPr id="28" name="Group 28"/>
          <p:cNvGrpSpPr/>
          <p:nvPr/>
        </p:nvGrpSpPr>
        <p:grpSpPr>
          <a:xfrm rot="-5400000">
            <a:off x="16684409" y="8777321"/>
            <a:ext cx="2272060" cy="444274"/>
            <a:chOff x="0" y="0"/>
            <a:chExt cx="598403" cy="11701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98403" cy="117010"/>
            </a:xfrm>
            <a:custGeom>
              <a:avLst/>
              <a:gdLst/>
              <a:ahLst/>
              <a:cxnLst/>
              <a:rect l="l" t="t" r="r" b="b"/>
              <a:pathLst>
                <a:path w="598403" h="117010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1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 rot="5400000">
            <a:off x="16885902" y="8922638"/>
            <a:ext cx="1846679" cy="153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4"/>
              </a:lnSpc>
            </a:pPr>
            <a:r>
              <a:rPr lang="en-US" sz="1200" b="1" spc="96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PAGE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651125"/>
            <a:ext cx="7308822" cy="6607175"/>
            <a:chOff x="0" y="0"/>
            <a:chExt cx="6350000" cy="5740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3"/>
              <a:stretch>
                <a:fillRect l="-14" r="-14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4729887" y="738645"/>
            <a:ext cx="8828227" cy="93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2"/>
              </a:lnSpc>
            </a:pPr>
            <a:r>
              <a:rPr lang="en-US" sz="7200">
                <a:solidFill>
                  <a:srgbClr val="C1FF72"/>
                </a:solidFill>
                <a:latin typeface="Architype Van Doesburg"/>
                <a:ea typeface="Architype Van Doesburg"/>
                <a:cs typeface="Architype Van Doesburg"/>
                <a:sym typeface="Architype Van Doesburg"/>
              </a:rPr>
              <a:t>THE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3391420"/>
            <a:ext cx="7489793" cy="4472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Visualizing How Machines Think</a:t>
            </a:r>
          </a:p>
          <a:p>
            <a:pPr marL="604516" lvl="1" indent="-302258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Sudoku is a classic constraint satisfaction problem.</a:t>
            </a:r>
          </a:p>
          <a:p>
            <a:pPr marL="604516" lvl="1" indent="-302258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Command-line outputs make algorithm logic hard to visualize.</a:t>
            </a:r>
          </a:p>
          <a:p>
            <a:pPr marL="604516" lvl="1" indent="-302258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a real-time visual tool showing cell evaluation.</a:t>
            </a:r>
          </a:p>
          <a:p>
            <a:pPr marL="604516" lvl="1" indent="-302258" algn="l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Challenge: Running intensive algorithms without freezing the UI.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8765821"/>
            <a:ext cx="123568" cy="492479"/>
          </a:xfrm>
          <a:custGeom>
            <a:avLst/>
            <a:gdLst/>
            <a:ahLst/>
            <a:cxnLst/>
            <a:rect l="l" t="t" r="r" b="b"/>
            <a:pathLst>
              <a:path w="123568" h="492479">
                <a:moveTo>
                  <a:pt x="0" y="0"/>
                </a:moveTo>
                <a:lnTo>
                  <a:pt x="123568" y="0"/>
                </a:lnTo>
                <a:lnTo>
                  <a:pt x="123568" y="492479"/>
                </a:lnTo>
                <a:lnTo>
                  <a:pt x="0" y="4924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-5400000">
            <a:off x="16684409" y="8777321"/>
            <a:ext cx="2272060" cy="444274"/>
            <a:chOff x="0" y="0"/>
            <a:chExt cx="598403" cy="1170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8403" cy="117010"/>
            </a:xfrm>
            <a:custGeom>
              <a:avLst/>
              <a:gdLst/>
              <a:ahLst/>
              <a:cxnLst/>
              <a:rect l="l" t="t" r="r" b="b"/>
              <a:pathLst>
                <a:path w="598403" h="117010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1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 rot="5400000">
            <a:off x="16885894" y="8922630"/>
            <a:ext cx="1846679" cy="1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4"/>
              </a:lnSpc>
            </a:pPr>
            <a:r>
              <a:rPr lang="en-US" sz="1200" b="1" spc="96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PAGE 02</a:t>
            </a:r>
          </a:p>
        </p:txBody>
      </p:sp>
      <p:sp>
        <p:nvSpPr>
          <p:cNvPr id="12" name="Freeform 12"/>
          <p:cNvSpPr/>
          <p:nvPr/>
        </p:nvSpPr>
        <p:spPr>
          <a:xfrm rot="-1886141">
            <a:off x="10664929" y="9373570"/>
            <a:ext cx="1578668" cy="1826860"/>
          </a:xfrm>
          <a:custGeom>
            <a:avLst/>
            <a:gdLst/>
            <a:ahLst/>
            <a:cxnLst/>
            <a:rect l="l" t="t" r="r" b="b"/>
            <a:pathLst>
              <a:path w="1578668" h="1826860">
                <a:moveTo>
                  <a:pt x="0" y="0"/>
                </a:moveTo>
                <a:lnTo>
                  <a:pt x="1578668" y="0"/>
                </a:lnTo>
                <a:lnTo>
                  <a:pt x="1578668" y="1826860"/>
                </a:lnTo>
                <a:lnTo>
                  <a:pt x="0" y="18268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16684409" y="8777321"/>
            <a:ext cx="2272060" cy="444274"/>
            <a:chOff x="0" y="0"/>
            <a:chExt cx="598403" cy="1170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8403" cy="117010"/>
            </a:xfrm>
            <a:custGeom>
              <a:avLst/>
              <a:gdLst/>
              <a:ahLst/>
              <a:cxnLst/>
              <a:rect l="l" t="t" r="r" b="b"/>
              <a:pathLst>
                <a:path w="598403" h="117010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1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 rot="5400000">
            <a:off x="16885894" y="8922630"/>
            <a:ext cx="1846679" cy="1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4"/>
              </a:lnSpc>
            </a:pPr>
            <a:r>
              <a:rPr lang="en-US" sz="1200" b="1" spc="96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PAGE 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6492" y="738645"/>
            <a:ext cx="14375015" cy="93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2"/>
              </a:lnSpc>
            </a:pPr>
            <a:r>
              <a:rPr lang="en-US" sz="7200">
                <a:solidFill>
                  <a:srgbClr val="C1FF72"/>
                </a:solidFill>
                <a:latin typeface="Architype Van Doesburg"/>
                <a:ea typeface="Architype Van Doesburg"/>
                <a:cs typeface="Architype Van Doesburg"/>
                <a:sym typeface="Architype Van Doesburg"/>
              </a:rPr>
              <a:t>PROJECT 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45145" y="3416147"/>
            <a:ext cx="10756068" cy="3254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5179"/>
              </a:lnSpc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an interactive GUI with Python and Tkinter.</a:t>
            </a:r>
          </a:p>
          <a:p>
            <a:pPr marL="604516" lvl="1" indent="-302258" algn="l">
              <a:lnSpc>
                <a:spcPts val="5179"/>
              </a:lnSpc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 and compare five AI search algorithms.</a:t>
            </a:r>
          </a:p>
          <a:p>
            <a:pPr marL="604516" lvl="1" indent="-302258" algn="l">
              <a:lnSpc>
                <a:spcPts val="5179"/>
              </a:lnSpc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 multi-threading to maintain UI responsiveness.</a:t>
            </a:r>
          </a:p>
          <a:p>
            <a:pPr marL="604516" lvl="1" indent="-302258" algn="l">
              <a:lnSpc>
                <a:spcPts val="5179"/>
              </a:lnSpc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Include a sudoku generator with four difficulty levels.</a:t>
            </a:r>
          </a:p>
          <a:p>
            <a:pPr marL="604516" lvl="1" indent="-302258" algn="l">
              <a:lnSpc>
                <a:spcPts val="5179"/>
              </a:lnSpc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Track real-time performance (steps and cell evaluations).</a:t>
            </a:r>
          </a:p>
        </p:txBody>
      </p:sp>
      <p:sp>
        <p:nvSpPr>
          <p:cNvPr id="9" name="Freeform 9"/>
          <p:cNvSpPr/>
          <p:nvPr/>
        </p:nvSpPr>
        <p:spPr>
          <a:xfrm>
            <a:off x="16512945" y="3972967"/>
            <a:ext cx="3173562" cy="3141598"/>
          </a:xfrm>
          <a:custGeom>
            <a:avLst/>
            <a:gdLst/>
            <a:ahLst/>
            <a:cxnLst/>
            <a:rect l="l" t="t" r="r" b="b"/>
            <a:pathLst>
              <a:path w="3173562" h="3141598">
                <a:moveTo>
                  <a:pt x="0" y="0"/>
                </a:moveTo>
                <a:lnTo>
                  <a:pt x="3173562" y="0"/>
                </a:lnTo>
                <a:lnTo>
                  <a:pt x="3173562" y="3141598"/>
                </a:lnTo>
                <a:lnTo>
                  <a:pt x="0" y="3141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354217" y="8613928"/>
            <a:ext cx="2629690" cy="3043120"/>
          </a:xfrm>
          <a:custGeom>
            <a:avLst/>
            <a:gdLst/>
            <a:ahLst/>
            <a:cxnLst/>
            <a:rect l="l" t="t" r="r" b="b"/>
            <a:pathLst>
              <a:path w="2629690" h="3043120">
                <a:moveTo>
                  <a:pt x="0" y="0"/>
                </a:moveTo>
                <a:lnTo>
                  <a:pt x="2629690" y="0"/>
                </a:lnTo>
                <a:lnTo>
                  <a:pt x="2629690" y="3043120"/>
                </a:lnTo>
                <a:lnTo>
                  <a:pt x="0" y="3043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16684409" y="8777321"/>
            <a:ext cx="2272060" cy="444274"/>
            <a:chOff x="0" y="0"/>
            <a:chExt cx="598403" cy="11701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98403" cy="117010"/>
            </a:xfrm>
            <a:custGeom>
              <a:avLst/>
              <a:gdLst/>
              <a:ahLst/>
              <a:cxnLst/>
              <a:rect l="l" t="t" r="r" b="b"/>
              <a:pathLst>
                <a:path w="598403" h="117010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1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 rot="5400000">
            <a:off x="16885894" y="8922630"/>
            <a:ext cx="1846679" cy="1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4"/>
              </a:lnSpc>
            </a:pPr>
            <a:r>
              <a:rPr lang="en-US" sz="1200" b="1" spc="96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PAGE 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56492" y="738645"/>
            <a:ext cx="14375015" cy="181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2"/>
              </a:lnSpc>
            </a:pPr>
            <a:r>
              <a:rPr lang="en-US" sz="7200">
                <a:solidFill>
                  <a:srgbClr val="C1FF72"/>
                </a:solidFill>
                <a:latin typeface="Architype Van Doesburg"/>
                <a:ea typeface="Architype Van Doesburg"/>
                <a:cs typeface="Architype Van Doesburg"/>
                <a:sym typeface="Architype Van Doesburg"/>
              </a:rPr>
              <a:t>TOOLS AND IMPLEMENTATION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9266" y="3985872"/>
            <a:ext cx="11350520" cy="2986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Language: Python 3.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GUI Framework: Tkinter.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Architecture: Strict separation of math logic and visual components.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Threading: Solvers run in the background to allow pausing, resuming, or stopping at any time.</a:t>
            </a:r>
          </a:p>
        </p:txBody>
      </p:sp>
      <p:sp>
        <p:nvSpPr>
          <p:cNvPr id="9" name="Freeform 9"/>
          <p:cNvSpPr/>
          <p:nvPr/>
        </p:nvSpPr>
        <p:spPr>
          <a:xfrm>
            <a:off x="-822235" y="8751012"/>
            <a:ext cx="2367201" cy="2343359"/>
          </a:xfrm>
          <a:custGeom>
            <a:avLst/>
            <a:gdLst/>
            <a:ahLst/>
            <a:cxnLst/>
            <a:rect l="l" t="t" r="r" b="b"/>
            <a:pathLst>
              <a:path w="2367201" h="2343359">
                <a:moveTo>
                  <a:pt x="0" y="0"/>
                </a:moveTo>
                <a:lnTo>
                  <a:pt x="2367201" y="0"/>
                </a:lnTo>
                <a:lnTo>
                  <a:pt x="2367201" y="2343359"/>
                </a:lnTo>
                <a:lnTo>
                  <a:pt x="0" y="23433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763826" y="9137922"/>
            <a:ext cx="2760348" cy="2242783"/>
          </a:xfrm>
          <a:custGeom>
            <a:avLst/>
            <a:gdLst/>
            <a:ahLst/>
            <a:cxnLst/>
            <a:rect l="l" t="t" r="r" b="b"/>
            <a:pathLst>
              <a:path w="2760348" h="2242783">
                <a:moveTo>
                  <a:pt x="0" y="0"/>
                </a:moveTo>
                <a:lnTo>
                  <a:pt x="2760348" y="0"/>
                </a:lnTo>
                <a:lnTo>
                  <a:pt x="2760348" y="2242783"/>
                </a:lnTo>
                <a:lnTo>
                  <a:pt x="0" y="22427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1000"/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29417" y="9258300"/>
            <a:ext cx="870809" cy="877188"/>
          </a:xfrm>
          <a:custGeom>
            <a:avLst/>
            <a:gdLst/>
            <a:ahLst/>
            <a:cxnLst/>
            <a:rect l="l" t="t" r="r" b="b"/>
            <a:pathLst>
              <a:path w="870809" h="877188">
                <a:moveTo>
                  <a:pt x="0" y="0"/>
                </a:moveTo>
                <a:lnTo>
                  <a:pt x="870809" y="0"/>
                </a:lnTo>
                <a:lnTo>
                  <a:pt x="870809" y="877188"/>
                </a:lnTo>
                <a:lnTo>
                  <a:pt x="0" y="877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6208853"/>
            <a:ext cx="123568" cy="492479"/>
          </a:xfrm>
          <a:custGeom>
            <a:avLst/>
            <a:gdLst/>
            <a:ahLst/>
            <a:cxnLst/>
            <a:rect l="l" t="t" r="r" b="b"/>
            <a:pathLst>
              <a:path w="123568" h="492479">
                <a:moveTo>
                  <a:pt x="0" y="0"/>
                </a:moveTo>
                <a:lnTo>
                  <a:pt x="123568" y="0"/>
                </a:lnTo>
                <a:lnTo>
                  <a:pt x="123568" y="492479"/>
                </a:lnTo>
                <a:lnTo>
                  <a:pt x="0" y="492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7135732" y="6208853"/>
            <a:ext cx="123568" cy="492479"/>
          </a:xfrm>
          <a:custGeom>
            <a:avLst/>
            <a:gdLst/>
            <a:ahLst/>
            <a:cxnLst/>
            <a:rect l="l" t="t" r="r" b="b"/>
            <a:pathLst>
              <a:path w="123568" h="492479">
                <a:moveTo>
                  <a:pt x="0" y="0"/>
                </a:moveTo>
                <a:lnTo>
                  <a:pt x="123568" y="0"/>
                </a:lnTo>
                <a:lnTo>
                  <a:pt x="123568" y="492479"/>
                </a:lnTo>
                <a:lnTo>
                  <a:pt x="0" y="492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5400000">
            <a:off x="16684409" y="8777321"/>
            <a:ext cx="2272060" cy="444274"/>
            <a:chOff x="0" y="0"/>
            <a:chExt cx="598403" cy="1170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8403" cy="117010"/>
            </a:xfrm>
            <a:custGeom>
              <a:avLst/>
              <a:gdLst/>
              <a:ahLst/>
              <a:cxnLst/>
              <a:rect l="l" t="t" r="r" b="b"/>
              <a:pathLst>
                <a:path w="598403" h="117010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1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 rot="5400000">
            <a:off x="16885894" y="8922630"/>
            <a:ext cx="1846679" cy="1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4"/>
              </a:lnSpc>
            </a:pPr>
            <a:r>
              <a:rPr lang="en-US" sz="1200" b="1" spc="96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PAGE 05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56492" y="738645"/>
            <a:ext cx="14375015" cy="93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2"/>
              </a:lnSpc>
            </a:pPr>
            <a:r>
              <a:rPr lang="en-US" sz="7200">
                <a:solidFill>
                  <a:srgbClr val="C1FF72"/>
                </a:solidFill>
                <a:latin typeface="Architype Van Doesburg"/>
                <a:ea typeface="Architype Van Doesburg"/>
                <a:cs typeface="Architype Van Doesburg"/>
                <a:sym typeface="Architype Van Doesburg"/>
              </a:rPr>
              <a:t>THE ALGORITHMS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46350" y="3524365"/>
            <a:ext cx="11350520" cy="397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Depth-First Search (DFS): 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Tests sequentially, backtracks at dead ends.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Breadth-First Search (BFS):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Maps states level by level.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Heuristic Search: 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Tries the least frequent numbers first.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Minimum Remaining Values (MRV):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Targets the empty cell with the fewest legal options.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Forward Checking: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Proactively updates legal options for neighboring cells.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45622" y="866590"/>
            <a:ext cx="635054" cy="515982"/>
          </a:xfrm>
          <a:custGeom>
            <a:avLst/>
            <a:gdLst/>
            <a:ahLst/>
            <a:cxnLst/>
            <a:rect l="l" t="t" r="r" b="b"/>
            <a:pathLst>
              <a:path w="635054" h="515982">
                <a:moveTo>
                  <a:pt x="0" y="0"/>
                </a:moveTo>
                <a:lnTo>
                  <a:pt x="635054" y="0"/>
                </a:lnTo>
                <a:lnTo>
                  <a:pt x="635054" y="515982"/>
                </a:lnTo>
                <a:lnTo>
                  <a:pt x="0" y="515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5400000">
            <a:off x="16684409" y="8777321"/>
            <a:ext cx="2272060" cy="444274"/>
            <a:chOff x="0" y="0"/>
            <a:chExt cx="598403" cy="1170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8403" cy="117010"/>
            </a:xfrm>
            <a:custGeom>
              <a:avLst/>
              <a:gdLst/>
              <a:ahLst/>
              <a:cxnLst/>
              <a:rect l="l" t="t" r="r" b="b"/>
              <a:pathLst>
                <a:path w="598403" h="117010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1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 rot="5400000">
            <a:off x="16885894" y="8922630"/>
            <a:ext cx="1846679" cy="1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4"/>
              </a:lnSpc>
            </a:pPr>
            <a:r>
              <a:rPr lang="en-US" sz="1200" b="1" spc="96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PAGE 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56492" y="738645"/>
            <a:ext cx="14375015" cy="93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2"/>
              </a:lnSpc>
            </a:pPr>
            <a:r>
              <a:rPr lang="en-US" sz="7200">
                <a:solidFill>
                  <a:srgbClr val="C1FF72"/>
                </a:solidFill>
                <a:latin typeface="Architype Van Doesburg"/>
                <a:ea typeface="Architype Van Doesburg"/>
                <a:cs typeface="Architype Van Doesburg"/>
                <a:sym typeface="Architype Van Doesburg"/>
              </a:rPr>
              <a:t>PERFORMANCE RESULTS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68740" y="3264667"/>
            <a:ext cx="11350520" cy="397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Depth-First Search (DFS): 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Tests sequentially, backtracks at dead ends.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Breadth-First Search (BFS):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Maps states level by level.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Heuristic Search: 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Tries the least frequent numbers first.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Minimum Remaining Values (MRV):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Targets the empty cell with the fewest legal options.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Forward Checking: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Proactively updates legal options for neighboring cells.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065313" y="8304289"/>
            <a:ext cx="1380015" cy="1390125"/>
          </a:xfrm>
          <a:custGeom>
            <a:avLst/>
            <a:gdLst/>
            <a:ahLst/>
            <a:cxnLst/>
            <a:rect l="l" t="t" r="r" b="b"/>
            <a:pathLst>
              <a:path w="1380015" h="1390125">
                <a:moveTo>
                  <a:pt x="0" y="0"/>
                </a:moveTo>
                <a:lnTo>
                  <a:pt x="1380015" y="0"/>
                </a:lnTo>
                <a:lnTo>
                  <a:pt x="1380015" y="1390125"/>
                </a:lnTo>
                <a:lnTo>
                  <a:pt x="0" y="1390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48012" y="899063"/>
            <a:ext cx="457582" cy="526651"/>
          </a:xfrm>
          <a:custGeom>
            <a:avLst/>
            <a:gdLst/>
            <a:ahLst/>
            <a:cxnLst/>
            <a:rect l="l" t="t" r="r" b="b"/>
            <a:pathLst>
              <a:path w="457582" h="526651">
                <a:moveTo>
                  <a:pt x="0" y="0"/>
                </a:moveTo>
                <a:lnTo>
                  <a:pt x="457583" y="0"/>
                </a:lnTo>
                <a:lnTo>
                  <a:pt x="457583" y="526651"/>
                </a:lnTo>
                <a:lnTo>
                  <a:pt x="0" y="5266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468859" y="4139799"/>
            <a:ext cx="5396226" cy="5023887"/>
            <a:chOff x="0" y="0"/>
            <a:chExt cx="6350000" cy="5911850"/>
          </a:xfrm>
        </p:grpSpPr>
        <p:sp>
          <p:nvSpPr>
            <p:cNvPr id="5" name="Freeform 5"/>
            <p:cNvSpPr/>
            <p:nvPr/>
          </p:nvSpPr>
          <p:spPr>
            <a:xfrm>
              <a:off x="302" y="0"/>
              <a:ext cx="6348428" cy="5911850"/>
            </a:xfrm>
            <a:custGeom>
              <a:avLst/>
              <a:gdLst/>
              <a:ahLst/>
              <a:cxnLst/>
              <a:rect l="l" t="t" r="r" b="b"/>
              <a:pathLst>
                <a:path w="6348428" h="5911850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4"/>
              <a:stretch>
                <a:fillRect l="-66" r="-66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2644720" y="8917808"/>
            <a:ext cx="1187070" cy="1187070"/>
          </a:xfrm>
          <a:custGeom>
            <a:avLst/>
            <a:gdLst/>
            <a:ahLst/>
            <a:cxnLst/>
            <a:rect l="l" t="t" r="r" b="b"/>
            <a:pathLst>
              <a:path w="1187070" h="1187070">
                <a:moveTo>
                  <a:pt x="0" y="0"/>
                </a:moveTo>
                <a:lnTo>
                  <a:pt x="1187070" y="0"/>
                </a:lnTo>
                <a:lnTo>
                  <a:pt x="1187070" y="1187070"/>
                </a:lnTo>
                <a:lnTo>
                  <a:pt x="0" y="11870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2000"/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-5400000">
            <a:off x="16684409" y="8777321"/>
            <a:ext cx="2272060" cy="444274"/>
            <a:chOff x="0" y="0"/>
            <a:chExt cx="598403" cy="1170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98403" cy="117010"/>
            </a:xfrm>
            <a:custGeom>
              <a:avLst/>
              <a:gdLst/>
              <a:ahLst/>
              <a:cxnLst/>
              <a:rect l="l" t="t" r="r" b="b"/>
              <a:pathLst>
                <a:path w="598403" h="117010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1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 rot="5400000">
            <a:off x="16885894" y="8922630"/>
            <a:ext cx="1846679" cy="1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4"/>
              </a:lnSpc>
            </a:pPr>
            <a:r>
              <a:rPr lang="en-US" sz="1200" b="1" spc="96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PAGE 07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56492" y="738645"/>
            <a:ext cx="14375015" cy="933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2"/>
              </a:lnSpc>
            </a:pPr>
            <a:r>
              <a:rPr lang="en-US" sz="7200">
                <a:solidFill>
                  <a:srgbClr val="C1FF72"/>
                </a:solidFill>
                <a:latin typeface="Architype Van Doesburg"/>
                <a:ea typeface="Architype Van Doesburg"/>
                <a:cs typeface="Architype Van Doesburg"/>
                <a:sym typeface="Architype Van Doesburg"/>
              </a:rPr>
              <a:t>CURRENT LIMITATIONS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68740" y="3264667"/>
            <a:ext cx="11350520" cy="3976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Depth-First Search (DFS): 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Tests sequentially, backtracks at dead ends.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Breadth-First Search (BFS):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Maps states level by level.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Heuristic Search: 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Tries the least frequent numbers first.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Minimum Remaining Values (MRV):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Targets the empty cell with the fewest legal options.</a:t>
            </a:r>
          </a:p>
          <a:p>
            <a:pPr marL="604516" lvl="1" indent="-302258" algn="l">
              <a:lnSpc>
                <a:spcPts val="3919"/>
              </a:lnSpc>
              <a:buFont typeface="Arial"/>
              <a:buChar char="•"/>
            </a:pPr>
            <a:r>
              <a:rPr lang="en-US" sz="2799" b="1" spc="-11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Forward Checking:</a:t>
            </a:r>
            <a:r>
              <a:rPr lang="en-US" sz="2799" spc="-11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Proactively updates legal options for neighboring cells.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66" b="-666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434103" y="7341486"/>
            <a:ext cx="2087632" cy="2087632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4502" y="0"/>
                  </a:moveTo>
                  <a:lnTo>
                    <a:pt x="768298" y="0"/>
                  </a:lnTo>
                  <a:cubicBezTo>
                    <a:pt x="792876" y="0"/>
                    <a:pt x="812800" y="19924"/>
                    <a:pt x="812800" y="44502"/>
                  </a:cubicBezTo>
                  <a:lnTo>
                    <a:pt x="812800" y="768298"/>
                  </a:lnTo>
                  <a:cubicBezTo>
                    <a:pt x="812800" y="792876"/>
                    <a:pt x="792876" y="812800"/>
                    <a:pt x="768298" y="812800"/>
                  </a:cubicBezTo>
                  <a:lnTo>
                    <a:pt x="44502" y="812800"/>
                  </a:lnTo>
                  <a:cubicBezTo>
                    <a:pt x="19924" y="812800"/>
                    <a:pt x="0" y="792876"/>
                    <a:pt x="0" y="768298"/>
                  </a:cubicBezTo>
                  <a:lnTo>
                    <a:pt x="0" y="44502"/>
                  </a:lnTo>
                  <a:cubicBezTo>
                    <a:pt x="0" y="19924"/>
                    <a:pt x="19924" y="0"/>
                    <a:pt x="44502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8159065" y="7341486"/>
            <a:ext cx="2087632" cy="2087632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4502" y="0"/>
                  </a:moveTo>
                  <a:lnTo>
                    <a:pt x="768298" y="0"/>
                  </a:lnTo>
                  <a:cubicBezTo>
                    <a:pt x="792876" y="0"/>
                    <a:pt x="812800" y="19924"/>
                    <a:pt x="812800" y="44502"/>
                  </a:cubicBezTo>
                  <a:lnTo>
                    <a:pt x="812800" y="768298"/>
                  </a:lnTo>
                  <a:cubicBezTo>
                    <a:pt x="812800" y="792876"/>
                    <a:pt x="792876" y="812800"/>
                    <a:pt x="768298" y="812800"/>
                  </a:cubicBezTo>
                  <a:lnTo>
                    <a:pt x="44502" y="812800"/>
                  </a:lnTo>
                  <a:cubicBezTo>
                    <a:pt x="19924" y="812800"/>
                    <a:pt x="0" y="792876"/>
                    <a:pt x="0" y="768298"/>
                  </a:cubicBezTo>
                  <a:lnTo>
                    <a:pt x="0" y="44502"/>
                  </a:lnTo>
                  <a:cubicBezTo>
                    <a:pt x="0" y="19924"/>
                    <a:pt x="19924" y="0"/>
                    <a:pt x="44502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3880708" y="7341486"/>
            <a:ext cx="2087632" cy="208763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4502" y="0"/>
                  </a:moveTo>
                  <a:lnTo>
                    <a:pt x="768298" y="0"/>
                  </a:lnTo>
                  <a:cubicBezTo>
                    <a:pt x="792876" y="0"/>
                    <a:pt x="812800" y="19924"/>
                    <a:pt x="812800" y="44502"/>
                  </a:cubicBezTo>
                  <a:lnTo>
                    <a:pt x="812800" y="768298"/>
                  </a:lnTo>
                  <a:cubicBezTo>
                    <a:pt x="812800" y="792876"/>
                    <a:pt x="792876" y="812800"/>
                    <a:pt x="768298" y="812800"/>
                  </a:cubicBezTo>
                  <a:lnTo>
                    <a:pt x="44502" y="812800"/>
                  </a:lnTo>
                  <a:cubicBezTo>
                    <a:pt x="19924" y="812800"/>
                    <a:pt x="0" y="792876"/>
                    <a:pt x="0" y="768298"/>
                  </a:cubicBezTo>
                  <a:lnTo>
                    <a:pt x="0" y="44502"/>
                  </a:lnTo>
                  <a:cubicBezTo>
                    <a:pt x="0" y="19924"/>
                    <a:pt x="19924" y="0"/>
                    <a:pt x="44502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6211854" y="200559"/>
            <a:ext cx="1769352" cy="1751531"/>
          </a:xfrm>
          <a:custGeom>
            <a:avLst/>
            <a:gdLst/>
            <a:ahLst/>
            <a:cxnLst/>
            <a:rect l="l" t="t" r="r" b="b"/>
            <a:pathLst>
              <a:path w="1769352" h="1751531">
                <a:moveTo>
                  <a:pt x="0" y="0"/>
                </a:moveTo>
                <a:lnTo>
                  <a:pt x="1769352" y="0"/>
                </a:lnTo>
                <a:lnTo>
                  <a:pt x="1769352" y="1751532"/>
                </a:lnTo>
                <a:lnTo>
                  <a:pt x="0" y="17515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6208853"/>
            <a:ext cx="123568" cy="492479"/>
          </a:xfrm>
          <a:custGeom>
            <a:avLst/>
            <a:gdLst/>
            <a:ahLst/>
            <a:cxnLst/>
            <a:rect l="l" t="t" r="r" b="b"/>
            <a:pathLst>
              <a:path w="123568" h="492479">
                <a:moveTo>
                  <a:pt x="0" y="0"/>
                </a:moveTo>
                <a:lnTo>
                  <a:pt x="123568" y="0"/>
                </a:lnTo>
                <a:lnTo>
                  <a:pt x="123568" y="492479"/>
                </a:lnTo>
                <a:lnTo>
                  <a:pt x="0" y="4924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135732" y="6208853"/>
            <a:ext cx="123568" cy="492479"/>
          </a:xfrm>
          <a:custGeom>
            <a:avLst/>
            <a:gdLst/>
            <a:ahLst/>
            <a:cxnLst/>
            <a:rect l="l" t="t" r="r" b="b"/>
            <a:pathLst>
              <a:path w="123568" h="492479">
                <a:moveTo>
                  <a:pt x="0" y="0"/>
                </a:moveTo>
                <a:lnTo>
                  <a:pt x="123568" y="0"/>
                </a:lnTo>
                <a:lnTo>
                  <a:pt x="123568" y="492479"/>
                </a:lnTo>
                <a:lnTo>
                  <a:pt x="0" y="4924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 rot="-5400000">
            <a:off x="16684409" y="8777321"/>
            <a:ext cx="2272060" cy="444274"/>
            <a:chOff x="0" y="0"/>
            <a:chExt cx="598403" cy="1170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8403" cy="117010"/>
            </a:xfrm>
            <a:custGeom>
              <a:avLst/>
              <a:gdLst/>
              <a:ahLst/>
              <a:cxnLst/>
              <a:rect l="l" t="t" r="r" b="b"/>
              <a:pathLst>
                <a:path w="598403" h="117010">
                  <a:moveTo>
                    <a:pt x="0" y="0"/>
                  </a:moveTo>
                  <a:lnTo>
                    <a:pt x="598403" y="0"/>
                  </a:lnTo>
                  <a:lnTo>
                    <a:pt x="598403" y="117010"/>
                  </a:lnTo>
                  <a:lnTo>
                    <a:pt x="0" y="117010"/>
                  </a:lnTo>
                  <a:close/>
                </a:path>
              </a:pathLst>
            </a:custGeom>
            <a:gradFill rotWithShape="1">
              <a:gsLst>
                <a:gs pos="0">
                  <a:srgbClr val="1A5D3F">
                    <a:alpha val="0"/>
                  </a:srgbClr>
                </a:gs>
                <a:gs pos="50000">
                  <a:srgbClr val="1E3203">
                    <a:alpha val="100000"/>
                  </a:srgbClr>
                </a:gs>
                <a:gs pos="100000">
                  <a:srgbClr val="1F6445">
                    <a:alpha val="0"/>
                  </a:srgbClr>
                </a:gs>
              </a:gsLst>
              <a:lin ang="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98403" cy="15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 rot="5400000">
            <a:off x="16885894" y="8922630"/>
            <a:ext cx="1846679" cy="153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4"/>
              </a:lnSpc>
            </a:pPr>
            <a:r>
              <a:rPr lang="en-US" sz="1200" b="1" spc="960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PAGE 08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15799" y="3807299"/>
            <a:ext cx="14375015" cy="1336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84"/>
              </a:lnSpc>
            </a:pPr>
            <a:r>
              <a:rPr lang="en-US" sz="10400">
                <a:solidFill>
                  <a:srgbClr val="C1FF72"/>
                </a:solidFill>
                <a:latin typeface="Architype Van Doesburg"/>
                <a:ea typeface="Architype Van Doesburg"/>
                <a:cs typeface="Architype Van Doesburg"/>
                <a:sym typeface="Architype Van Doesburg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Custom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Architype Van Doesburg</vt:lpstr>
      <vt:lpstr>Montserrat Semi-Bold</vt:lpstr>
      <vt:lpstr>Poppins Italics</vt:lpstr>
      <vt:lpstr>Poppins Bold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Sudoku Solver: AI</dc:title>
  <cp:lastModifiedBy>MD. R_Z</cp:lastModifiedBy>
  <cp:revision>3</cp:revision>
  <dcterms:created xsi:type="dcterms:W3CDTF">2006-08-16T00:00:00Z</dcterms:created>
  <dcterms:modified xsi:type="dcterms:W3CDTF">2026-08-02T18:42:16Z</dcterms:modified>
  <dc:identifier>DAHRH3_zAi0</dc:identifier>
</cp:coreProperties>
</file>