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B6B6C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6B6C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6B6C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6B6C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4099" y="106110"/>
            <a:ext cx="11435703" cy="1539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B6B6C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5702" y="1218856"/>
            <a:ext cx="11380594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0037" y="0"/>
            <a:ext cx="2159792" cy="13364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53790" y="0"/>
            <a:ext cx="2116790" cy="193076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5265">
              <a:lnSpc>
                <a:spcPct val="100000"/>
              </a:lnSpc>
              <a:spcBef>
                <a:spcPts val="100"/>
              </a:spcBef>
            </a:pPr>
            <a:r>
              <a:rPr dirty="0"/>
              <a:t>Restoring</a:t>
            </a:r>
            <a:r>
              <a:rPr dirty="0" spc="-85"/>
              <a:t> </a:t>
            </a:r>
            <a:r>
              <a:rPr dirty="0" spc="-35"/>
              <a:t>Middle-</a:t>
            </a:r>
            <a:r>
              <a:rPr dirty="0"/>
              <a:t>Earth</a:t>
            </a:r>
            <a:r>
              <a:rPr dirty="0" spc="-85"/>
              <a:t> </a:t>
            </a:r>
            <a:r>
              <a:rPr dirty="0"/>
              <a:t>Problem</a:t>
            </a:r>
            <a:r>
              <a:rPr dirty="0" spc="-85"/>
              <a:t> </a:t>
            </a:r>
            <a:r>
              <a:rPr dirty="0" spc="-50"/>
              <a:t>&amp; </a:t>
            </a:r>
            <a:r>
              <a:rPr dirty="0"/>
              <a:t>Love</a:t>
            </a:r>
            <a:r>
              <a:rPr dirty="0" spc="-120"/>
              <a:t> </a:t>
            </a:r>
            <a:r>
              <a:rPr dirty="0"/>
              <a:t>Calculator</a:t>
            </a:r>
            <a:r>
              <a:rPr dirty="0" spc="-120"/>
              <a:t> </a:t>
            </a:r>
            <a:r>
              <a:rPr dirty="0"/>
              <a:t>Problem</a:t>
            </a:r>
            <a:r>
              <a:rPr dirty="0" spc="-120"/>
              <a:t> </a:t>
            </a:r>
            <a:r>
              <a:rPr dirty="0" spc="-10"/>
              <a:t>Algorithms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0" y="0"/>
            <a:ext cx="1425575" cy="1336040"/>
            <a:chOff x="0" y="0"/>
            <a:chExt cx="1425575" cy="1336040"/>
          </a:xfrm>
        </p:grpSpPr>
        <p:sp>
          <p:nvSpPr>
            <p:cNvPr id="15" name="object 15"/>
            <p:cNvSpPr/>
            <p:nvPr/>
          </p:nvSpPr>
          <p:spPr>
            <a:xfrm>
              <a:off x="705567" y="712047"/>
              <a:ext cx="14604" cy="13970"/>
            </a:xfrm>
            <a:custGeom>
              <a:avLst/>
              <a:gdLst/>
              <a:ahLst/>
              <a:cxnLst/>
              <a:rect l="l" t="t" r="r" b="b"/>
              <a:pathLst>
                <a:path w="14604" h="13970">
                  <a:moveTo>
                    <a:pt x="14253" y="0"/>
                  </a:moveTo>
                  <a:lnTo>
                    <a:pt x="0" y="0"/>
                  </a:lnTo>
                  <a:lnTo>
                    <a:pt x="0" y="13360"/>
                  </a:lnTo>
                  <a:lnTo>
                    <a:pt x="14253" y="13360"/>
                  </a:lnTo>
                  <a:lnTo>
                    <a:pt x="14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425384" cy="133584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2137" y="3860228"/>
            <a:ext cx="2995580" cy="299772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2973" y="4131868"/>
            <a:ext cx="17659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Presented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by,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7683" y="3518198"/>
            <a:ext cx="858300" cy="90952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2973" y="4497628"/>
            <a:ext cx="2741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Md.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Reahoon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Zannah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973" y="4863388"/>
            <a:ext cx="18135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Id:</a:t>
            </a:r>
            <a:r>
              <a:rPr dirty="0" sz="2400" spc="-10" b="1">
                <a:latin typeface="Calibri"/>
                <a:cs typeface="Calibri"/>
              </a:rPr>
              <a:t> 223002038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2973" y="5229149"/>
            <a:ext cx="2738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Course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code:</a:t>
            </a:r>
            <a:r>
              <a:rPr dirty="0" sz="2400" spc="-20" b="1">
                <a:latin typeface="Calibri"/>
                <a:cs typeface="Calibri"/>
              </a:rPr>
              <a:t> CSE-</a:t>
            </a:r>
            <a:r>
              <a:rPr dirty="0" sz="2400" spc="-25" b="1">
                <a:latin typeface="Calibri"/>
                <a:cs typeface="Calibri"/>
              </a:rPr>
              <a:t>206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973" y="5594908"/>
            <a:ext cx="19900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Section: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223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D5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6680" y="4131868"/>
            <a:ext cx="550926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Presented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to,</a:t>
            </a:r>
            <a:endParaRPr sz="2400">
              <a:latin typeface="Calibri"/>
              <a:cs typeface="Calibri"/>
            </a:endParaRPr>
          </a:p>
          <a:p>
            <a:pPr marL="12700" marR="2179320">
              <a:lnSpc>
                <a:spcPct val="100000"/>
              </a:lnSpc>
            </a:pPr>
            <a:r>
              <a:rPr dirty="0" sz="2400" b="1">
                <a:latin typeface="Calibri"/>
                <a:cs typeface="Calibri"/>
              </a:rPr>
              <a:t>Md.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Sabbir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Hosen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Mamun Lecturer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b="1">
                <a:latin typeface="Calibri"/>
                <a:cs typeface="Calibri"/>
              </a:rPr>
              <a:t>Dept.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Computer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Science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Engineering </a:t>
            </a:r>
            <a:r>
              <a:rPr dirty="0" sz="2400" b="1">
                <a:latin typeface="Calibri"/>
                <a:cs typeface="Calibri"/>
              </a:rPr>
              <a:t>GREEN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UNIVERSITY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BANGLADESH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0037" y="0"/>
            <a:ext cx="2159792" cy="13364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5092" y="732978"/>
            <a:ext cx="2116790" cy="22322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35000" y="106110"/>
            <a:ext cx="1044638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000000"/>
                </a:solidFill>
              </a:rPr>
              <a:t>Introduction</a:t>
            </a:r>
            <a:r>
              <a:rPr dirty="0" sz="6000" spc="-120">
                <a:solidFill>
                  <a:srgbClr val="000000"/>
                </a:solidFill>
              </a:rPr>
              <a:t> </a:t>
            </a:r>
            <a:r>
              <a:rPr dirty="0" sz="6000">
                <a:solidFill>
                  <a:srgbClr val="000000"/>
                </a:solidFill>
              </a:rPr>
              <a:t>What</a:t>
            </a:r>
            <a:r>
              <a:rPr dirty="0" sz="6000" spc="-114">
                <a:solidFill>
                  <a:srgbClr val="000000"/>
                </a:solidFill>
              </a:rPr>
              <a:t> </a:t>
            </a:r>
            <a:r>
              <a:rPr dirty="0" sz="6000">
                <a:solidFill>
                  <a:srgbClr val="000000"/>
                </a:solidFill>
              </a:rPr>
              <a:t>are</a:t>
            </a:r>
            <a:r>
              <a:rPr dirty="0" sz="6000" spc="-114">
                <a:solidFill>
                  <a:srgbClr val="000000"/>
                </a:solidFill>
              </a:rPr>
              <a:t> </a:t>
            </a:r>
            <a:r>
              <a:rPr dirty="0" sz="6000" spc="-10">
                <a:solidFill>
                  <a:srgbClr val="000000"/>
                </a:solidFill>
              </a:rPr>
              <a:t>Algorithm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635000" y="1020510"/>
            <a:ext cx="33686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0" b="1">
                <a:latin typeface="Calibri"/>
                <a:cs typeface="Calibri"/>
              </a:rPr>
              <a:t>Problems?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689" y="2641955"/>
            <a:ext cx="9892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dirty="0" sz="2400">
                <a:latin typeface="Calibri"/>
                <a:cs typeface="Calibri"/>
              </a:rPr>
              <a:t>Algorithm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problems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involve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solving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computational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challenges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structured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689" y="3190595"/>
            <a:ext cx="754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steps.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30662" y="3160414"/>
            <a:ext cx="3750665" cy="324319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023027" y="3405886"/>
            <a:ext cx="103505" cy="664210"/>
          </a:xfrm>
          <a:prstGeom prst="rect">
            <a:avLst/>
          </a:prstGeom>
        </p:spPr>
        <p:txBody>
          <a:bodyPr wrap="square" lIns="0" tIns="346075" rIns="0" bIns="0" rtlCol="0" vert="horz">
            <a:spAutoFit/>
          </a:bodyPr>
          <a:lstStyle/>
          <a:p>
            <a:pPr>
              <a:lnSpc>
                <a:spcPts val="2505"/>
              </a:lnSpc>
              <a:spcBef>
                <a:spcPts val="2725"/>
              </a:spcBef>
            </a:pPr>
            <a:r>
              <a:rPr dirty="0" sz="2400" spc="-5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689" y="3739235"/>
            <a:ext cx="8541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  <a:tab pos="4366895" algn="l"/>
              </a:tabLst>
            </a:pPr>
            <a:r>
              <a:rPr dirty="0" sz="2400">
                <a:latin typeface="Calibri"/>
                <a:cs typeface="Calibri"/>
              </a:rPr>
              <a:t>Efficient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algorithms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faste</a:t>
            </a:r>
            <a:r>
              <a:rPr dirty="0" sz="2400">
                <a:latin typeface="Calibri"/>
                <a:cs typeface="Calibri"/>
              </a:rPr>
              <a:t>	solutions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minimal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resources.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689" y="4104995"/>
            <a:ext cx="5753100" cy="167132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i="1">
                <a:latin typeface="Calibri"/>
                <a:cs typeface="Calibri"/>
              </a:rPr>
              <a:t>Today's</a:t>
            </a:r>
            <a:r>
              <a:rPr dirty="0" sz="2400" spc="-100" i="1">
                <a:latin typeface="Calibri"/>
                <a:cs typeface="Calibri"/>
              </a:rPr>
              <a:t> </a:t>
            </a:r>
            <a:r>
              <a:rPr dirty="0" sz="2400" spc="-10" i="1">
                <a:latin typeface="Calibri"/>
                <a:cs typeface="Calibri"/>
              </a:rPr>
              <a:t>Focus:</a:t>
            </a:r>
            <a:endParaRPr sz="2400">
              <a:latin typeface="Calibri"/>
              <a:cs typeface="Calibri"/>
            </a:endParaRPr>
          </a:p>
          <a:p>
            <a:pPr marL="316230" indent="-30353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16230" algn="l"/>
              </a:tabLst>
            </a:pPr>
            <a:r>
              <a:rPr dirty="0" sz="2400" b="1">
                <a:latin typeface="Calibri"/>
                <a:cs typeface="Calibri"/>
              </a:rPr>
              <a:t>Restoring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Middle-</a:t>
            </a:r>
            <a:r>
              <a:rPr dirty="0" sz="2400" b="1">
                <a:latin typeface="Calibri"/>
                <a:cs typeface="Calibri"/>
              </a:rPr>
              <a:t>Earth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Problem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316230" indent="-30353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16230" algn="l"/>
              </a:tabLst>
            </a:pPr>
            <a:r>
              <a:rPr dirty="0" sz="2400" b="1">
                <a:latin typeface="Calibri"/>
                <a:cs typeface="Calibri"/>
              </a:rPr>
              <a:t>Love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Calculator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Problem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037" y="0"/>
            <a:ext cx="3651111" cy="25204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75715" y="2182558"/>
            <a:ext cx="1024001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000000"/>
                </a:solidFill>
              </a:rPr>
              <a:t>Restoring</a:t>
            </a:r>
            <a:r>
              <a:rPr dirty="0" sz="6000" spc="-80">
                <a:solidFill>
                  <a:srgbClr val="000000"/>
                </a:solidFill>
              </a:rPr>
              <a:t> </a:t>
            </a:r>
            <a:r>
              <a:rPr dirty="0" sz="6000" spc="-35">
                <a:solidFill>
                  <a:srgbClr val="000000"/>
                </a:solidFill>
              </a:rPr>
              <a:t>Middle-</a:t>
            </a:r>
            <a:r>
              <a:rPr dirty="0" sz="6000">
                <a:solidFill>
                  <a:srgbClr val="000000"/>
                </a:solidFill>
              </a:rPr>
              <a:t>Earth</a:t>
            </a:r>
            <a:r>
              <a:rPr dirty="0" sz="6000" spc="-75">
                <a:solidFill>
                  <a:srgbClr val="000000"/>
                </a:solidFill>
              </a:rPr>
              <a:t> </a:t>
            </a:r>
            <a:r>
              <a:rPr dirty="0" sz="6000" spc="-10">
                <a:solidFill>
                  <a:srgbClr val="000000"/>
                </a:solidFill>
              </a:rPr>
              <a:t>Problem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0662" y="3160414"/>
            <a:ext cx="3750665" cy="32431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04423" y="3096958"/>
            <a:ext cx="31838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0" b="1">
                <a:latin typeface="Calibri"/>
                <a:cs typeface="Calibri"/>
              </a:rPr>
              <a:t>Definition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239" y="6025426"/>
            <a:ext cx="686960" cy="303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2657" y="0"/>
            <a:ext cx="7339342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790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latin typeface="Arial"/>
                <a:cs typeface="Arial"/>
              </a:rPr>
              <a:t>01</a:t>
            </a:r>
            <a:r>
              <a:rPr dirty="0" sz="1800" spc="2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: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114">
                <a:latin typeface="Arial"/>
                <a:cs typeface="Arial"/>
              </a:rPr>
              <a:t>Problem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114">
                <a:latin typeface="Arial"/>
                <a:cs typeface="Arial"/>
              </a:rPr>
              <a:t>Details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90">
                <a:latin typeface="Arial"/>
                <a:cs typeface="Arial"/>
              </a:rPr>
              <a:t>Key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110">
                <a:latin typeface="Arial"/>
                <a:cs typeface="Arial"/>
              </a:rPr>
              <a:t>Objectives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541" y="2902839"/>
            <a:ext cx="9490075" cy="167132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19380" indent="-114300">
              <a:lnSpc>
                <a:spcPct val="100000"/>
              </a:lnSpc>
              <a:spcBef>
                <a:spcPts val="1540"/>
              </a:spcBef>
              <a:buSzPct val="95833"/>
              <a:buFont typeface="Arial"/>
              <a:buChar char="•"/>
              <a:tabLst>
                <a:tab pos="119380" algn="l"/>
              </a:tabLst>
            </a:pPr>
            <a:r>
              <a:rPr dirty="0" sz="2400">
                <a:latin typeface="Calibri"/>
                <a:cs typeface="Calibri"/>
              </a:rPr>
              <a:t>Problem: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refugees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homes.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Limited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habitable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Gondor.</a:t>
            </a:r>
            <a:endParaRPr sz="2400">
              <a:latin typeface="Calibri"/>
              <a:cs typeface="Calibri"/>
            </a:endParaRPr>
          </a:p>
          <a:p>
            <a:pPr marL="119380" indent="-114300">
              <a:lnSpc>
                <a:spcPct val="100000"/>
              </a:lnSpc>
              <a:spcBef>
                <a:spcPts val="1440"/>
              </a:spcBef>
              <a:buSzPct val="95833"/>
              <a:buFont typeface="Arial"/>
              <a:buChar char="•"/>
              <a:tabLst>
                <a:tab pos="119380" algn="l"/>
              </a:tabLst>
            </a:pPr>
            <a:r>
              <a:rPr dirty="0" sz="2400">
                <a:latin typeface="Calibri"/>
                <a:cs typeface="Calibri"/>
              </a:rPr>
              <a:t>Goal: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Distribute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refugees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effectively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across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suitable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counties.</a:t>
            </a:r>
            <a:endParaRPr sz="2400">
              <a:latin typeface="Calibri"/>
              <a:cs typeface="Calibri"/>
            </a:endParaRPr>
          </a:p>
          <a:p>
            <a:pPr marL="119380" indent="-114300">
              <a:lnSpc>
                <a:spcPct val="100000"/>
              </a:lnSpc>
              <a:spcBef>
                <a:spcPts val="1440"/>
              </a:spcBef>
              <a:buSzPct val="95833"/>
              <a:buFont typeface="Arial"/>
              <a:buChar char="•"/>
              <a:tabLst>
                <a:tab pos="119380" algn="l"/>
              </a:tabLst>
            </a:pPr>
            <a:r>
              <a:rPr dirty="0" sz="2400">
                <a:latin typeface="Calibri"/>
                <a:cs typeface="Calibri"/>
              </a:rPr>
              <a:t>Challenge: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Minimize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"cost"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relocation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(disruption,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hardship).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101" y="6445326"/>
            <a:ext cx="211645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>
                <a:solidFill>
                  <a:srgbClr val="B6B6CA"/>
                </a:solidFill>
                <a:latin typeface="Arial"/>
                <a:cs typeface="Arial"/>
              </a:rPr>
              <a:t>W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H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A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T</a:t>
            </a:r>
            <a:r>
              <a:rPr dirty="0" sz="700" spc="29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T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H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B6B6CA"/>
                </a:solidFill>
                <a:latin typeface="Arial"/>
                <a:cs typeface="Arial"/>
              </a:rPr>
              <a:t>I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S</a:t>
            </a:r>
            <a:r>
              <a:rPr dirty="0" sz="700" spc="29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S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E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C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T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B6B6CA"/>
                </a:solidFill>
                <a:latin typeface="Arial"/>
                <a:cs typeface="Arial"/>
              </a:rPr>
              <a:t>I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B6B6CA"/>
                </a:solidFill>
                <a:latin typeface="Arial"/>
                <a:cs typeface="Arial"/>
              </a:rPr>
              <a:t>O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N</a:t>
            </a:r>
            <a:r>
              <a:rPr dirty="0" sz="700" spc="29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B6B6CA"/>
                </a:solidFill>
                <a:latin typeface="Arial"/>
                <a:cs typeface="Arial"/>
              </a:rPr>
              <a:t>I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S</a:t>
            </a:r>
            <a:r>
              <a:rPr dirty="0" sz="700" spc="29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A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L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L</a:t>
            </a:r>
            <a:r>
              <a:rPr dirty="0" sz="700" spc="29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A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B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B6B6CA"/>
                </a:solidFill>
                <a:latin typeface="Arial"/>
                <a:cs typeface="Arial"/>
              </a:rPr>
              <a:t>O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B6B6CA"/>
                </a:solidFill>
                <a:latin typeface="Arial"/>
                <a:cs typeface="Arial"/>
              </a:rPr>
              <a:t>U</a:t>
            </a:r>
            <a:r>
              <a:rPr dirty="0" sz="700" spc="-55" b="1">
                <a:solidFill>
                  <a:srgbClr val="B6B6CA"/>
                </a:solidFill>
                <a:latin typeface="Arial"/>
                <a:cs typeface="Arial"/>
              </a:rPr>
              <a:t> </a:t>
            </a:r>
            <a:r>
              <a:rPr dirty="0" sz="700" spc="-50" b="1">
                <a:solidFill>
                  <a:srgbClr val="B6B6CA"/>
                </a:solidFill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033" rIns="0" bIns="0" rtlCol="0" vert="horz">
            <a:spAutoFit/>
          </a:bodyPr>
          <a:lstStyle/>
          <a:p>
            <a:pPr marL="7239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/>
              <a:t>Refugee</a:t>
            </a:r>
            <a:r>
              <a:rPr dirty="0" spc="-35"/>
              <a:t> </a:t>
            </a:r>
            <a:r>
              <a:rPr dirty="0"/>
              <a:t>Grouping</a:t>
            </a:r>
            <a:r>
              <a:rPr dirty="0" spc="-35"/>
              <a:t> </a:t>
            </a:r>
            <a:r>
              <a:rPr dirty="0"/>
              <a:t>Steps</a:t>
            </a:r>
            <a:r>
              <a:rPr dirty="0" spc="-35"/>
              <a:t> </a:t>
            </a:r>
            <a:r>
              <a:rPr dirty="0" spc="-25"/>
              <a:t>to </a:t>
            </a:r>
            <a:r>
              <a:rPr dirty="0"/>
              <a:t>Minimize</a:t>
            </a:r>
            <a:r>
              <a:rPr dirty="0" spc="-70"/>
              <a:t> </a:t>
            </a:r>
            <a:r>
              <a:rPr dirty="0"/>
              <a:t>Grouping</a:t>
            </a:r>
            <a:r>
              <a:rPr dirty="0" spc="-65"/>
              <a:t> </a:t>
            </a:r>
            <a:r>
              <a:rPr dirty="0" spc="-20"/>
              <a:t>Cost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42249"/>
            <a:ext cx="12191022" cy="5015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5541" y="2902839"/>
            <a:ext cx="10399395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8422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Begin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total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refugee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population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group. </a:t>
            </a:r>
            <a:r>
              <a:rPr dirty="0" sz="2400">
                <a:latin typeface="Calibri"/>
                <a:cs typeface="Calibri"/>
              </a:rPr>
              <a:t>Iteratively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divide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groups:</a:t>
            </a:r>
            <a:endParaRPr sz="2400">
              <a:latin typeface="Calibri"/>
              <a:cs typeface="Calibri"/>
            </a:endParaRPr>
          </a:p>
          <a:p>
            <a:pPr marL="1217295" indent="-290195">
              <a:lnSpc>
                <a:spcPct val="100000"/>
              </a:lnSpc>
              <a:spcBef>
                <a:spcPts val="1440"/>
              </a:spcBef>
              <a:buAutoNum type="alphaLcPeriod"/>
              <a:tabLst>
                <a:tab pos="1217295" algn="l"/>
              </a:tabLst>
            </a:pPr>
            <a:r>
              <a:rPr dirty="0" sz="2400">
                <a:latin typeface="Calibri"/>
                <a:cs typeface="Calibri"/>
              </a:rPr>
              <a:t>Prioritize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dividing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larger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groups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reduce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future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costs.</a:t>
            </a:r>
            <a:endParaRPr sz="2400">
              <a:latin typeface="Calibri"/>
              <a:cs typeface="Calibri"/>
            </a:endParaRPr>
          </a:p>
          <a:p>
            <a:pPr marL="927100" marR="5080" indent="304165">
              <a:lnSpc>
                <a:spcPct val="150000"/>
              </a:lnSpc>
              <a:buAutoNum type="alphaLcPeriod"/>
              <a:tabLst>
                <a:tab pos="1231265" algn="l"/>
                <a:tab pos="9063990" algn="l"/>
              </a:tabLst>
            </a:pP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subgroup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sizes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match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county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capacities.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Continue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until</a:t>
            </a:r>
            <a:r>
              <a:rPr dirty="0" sz="2400">
                <a:latin typeface="Calibri"/>
                <a:cs typeface="Calibri"/>
              </a:rPr>
              <a:t>	groups</a:t>
            </a:r>
            <a:r>
              <a:rPr dirty="0" sz="2400" spc="-25">
                <a:latin typeface="Calibri"/>
                <a:cs typeface="Calibri"/>
              </a:rPr>
              <a:t> are </a:t>
            </a:r>
            <a:r>
              <a:rPr dirty="0" sz="2400">
                <a:latin typeface="Calibri"/>
                <a:cs typeface="Calibri"/>
              </a:rPr>
              <a:t>formed.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Calculate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total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cost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divisions.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0037" y="0"/>
            <a:ext cx="3651111" cy="25204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0662" y="3405886"/>
            <a:ext cx="2995580" cy="299772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7683" y="3470764"/>
            <a:ext cx="858300" cy="90952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4018" y="2639758"/>
            <a:ext cx="1106424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000000"/>
                </a:solidFill>
              </a:rPr>
              <a:t>Love</a:t>
            </a:r>
            <a:r>
              <a:rPr dirty="0" sz="6000" spc="-120">
                <a:solidFill>
                  <a:srgbClr val="000000"/>
                </a:solidFill>
              </a:rPr>
              <a:t> </a:t>
            </a:r>
            <a:r>
              <a:rPr dirty="0" sz="6000">
                <a:solidFill>
                  <a:srgbClr val="000000"/>
                </a:solidFill>
              </a:rPr>
              <a:t>Calculator</a:t>
            </a:r>
            <a:r>
              <a:rPr dirty="0" sz="6000" spc="-120">
                <a:solidFill>
                  <a:srgbClr val="000000"/>
                </a:solidFill>
              </a:rPr>
              <a:t> </a:t>
            </a:r>
            <a:r>
              <a:rPr dirty="0" sz="6000">
                <a:solidFill>
                  <a:srgbClr val="000000"/>
                </a:solidFill>
              </a:rPr>
              <a:t>Problem</a:t>
            </a:r>
            <a:r>
              <a:rPr dirty="0" sz="6000" spc="-120">
                <a:solidFill>
                  <a:srgbClr val="000000"/>
                </a:solidFill>
              </a:rPr>
              <a:t> </a:t>
            </a:r>
            <a:r>
              <a:rPr dirty="0" sz="6000" spc="-10">
                <a:solidFill>
                  <a:srgbClr val="000000"/>
                </a:solidFill>
              </a:rPr>
              <a:t>Definition</a:t>
            </a:r>
            <a:endParaRPr sz="6000"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239" y="6025426"/>
            <a:ext cx="686960" cy="303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1" y="0"/>
            <a:ext cx="5258435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7566" rIns="0" bIns="0" rtlCol="0" vert="horz">
            <a:spAutoFit/>
          </a:bodyPr>
          <a:lstStyle/>
          <a:p>
            <a:pPr marL="6912609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latin typeface="Arial"/>
                <a:cs typeface="Arial"/>
              </a:rPr>
              <a:t>02</a:t>
            </a:r>
            <a:r>
              <a:rPr dirty="0" sz="1800" spc="2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: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114">
                <a:latin typeface="Arial"/>
                <a:cs typeface="Arial"/>
              </a:rPr>
              <a:t>Problem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114">
                <a:latin typeface="Arial"/>
                <a:cs typeface="Arial"/>
              </a:rPr>
              <a:t>Details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90">
                <a:latin typeface="Arial"/>
                <a:cs typeface="Arial"/>
              </a:rPr>
              <a:t>Key</a:t>
            </a:r>
            <a:r>
              <a:rPr dirty="0" sz="1800" spc="295">
                <a:latin typeface="Arial"/>
                <a:cs typeface="Arial"/>
              </a:rPr>
              <a:t> </a:t>
            </a:r>
            <a:r>
              <a:rPr dirty="0" sz="1800" spc="110">
                <a:latin typeface="Arial"/>
                <a:cs typeface="Arial"/>
              </a:rPr>
              <a:t>Objectives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4300" y="2343861"/>
            <a:ext cx="6290945" cy="331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13843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'Love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calculator'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developed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generate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love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score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names.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information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length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shortest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total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number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unique </a:t>
            </a:r>
            <a:r>
              <a:rPr dirty="0" sz="2400">
                <a:latin typeface="Calibri"/>
                <a:cs typeface="Calibri"/>
              </a:rPr>
              <a:t>shortest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strings.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score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computed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using </a:t>
            </a:r>
            <a:r>
              <a:rPr dirty="0" sz="2400">
                <a:latin typeface="Calibri"/>
                <a:cs typeface="Calibri"/>
              </a:rPr>
              <a:t>complex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math,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revealed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later.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033" rIns="0" bIns="0" rtlCol="0" vert="horz">
            <a:spAutoFit/>
          </a:bodyPr>
          <a:lstStyle/>
          <a:p>
            <a:pPr marL="7239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Algorithm</a:t>
            </a:r>
            <a:r>
              <a:rPr dirty="0" spc="-40"/>
              <a:t> </a:t>
            </a:r>
            <a:r>
              <a:rPr dirty="0"/>
              <a:t>Steps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Calculate</a:t>
            </a:r>
            <a:r>
              <a:rPr dirty="0" spc="-35"/>
              <a:t> </a:t>
            </a:r>
            <a:r>
              <a:rPr dirty="0" spc="-25"/>
              <a:t>the </a:t>
            </a:r>
            <a:r>
              <a:rPr dirty="0"/>
              <a:t>Compatibility</a:t>
            </a:r>
            <a:r>
              <a:rPr dirty="0" spc="-50"/>
              <a:t> </a:t>
            </a:r>
            <a:r>
              <a:rPr dirty="0" spc="-10"/>
              <a:t>Score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5383" y="0"/>
            <a:ext cx="7626616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5477" y="2542615"/>
            <a:ext cx="8368665" cy="331724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Calibri"/>
                <a:cs typeface="Calibri"/>
              </a:rPr>
              <a:t>Preprocess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inputs:</a:t>
            </a:r>
            <a:endParaRPr sz="2400">
              <a:latin typeface="Calibri"/>
              <a:cs typeface="Calibri"/>
            </a:endParaRPr>
          </a:p>
          <a:p>
            <a:pPr marL="302895" indent="-290195">
              <a:lnSpc>
                <a:spcPct val="100000"/>
              </a:lnSpc>
              <a:spcBef>
                <a:spcPts val="1440"/>
              </a:spcBef>
              <a:buAutoNum type="alphaLcPeriod"/>
              <a:tabLst>
                <a:tab pos="302895" algn="l"/>
              </a:tabLst>
            </a:pPr>
            <a:r>
              <a:rPr dirty="0" sz="2400">
                <a:latin typeface="Calibri"/>
                <a:cs typeface="Calibri"/>
              </a:rPr>
              <a:t>Convert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names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lowercase.</a:t>
            </a:r>
            <a:endParaRPr sz="24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1440"/>
              </a:spcBef>
              <a:buAutoNum type="alphaLcPeriod"/>
              <a:tabLst>
                <a:tab pos="316865" algn="l"/>
              </a:tabLst>
            </a:pPr>
            <a:r>
              <a:rPr dirty="0" sz="2400">
                <a:latin typeface="Calibri"/>
                <a:cs typeface="Calibri"/>
              </a:rPr>
              <a:t>Remove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spaces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special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characters.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1440"/>
              </a:spcBef>
              <a:buAutoNum type="alphaLcPeriod"/>
              <a:tabLst>
                <a:tab pos="286385" algn="l"/>
              </a:tabLst>
            </a:pPr>
            <a:r>
              <a:rPr dirty="0" sz="2400">
                <a:latin typeface="Calibri"/>
                <a:cs typeface="Calibri"/>
              </a:rPr>
              <a:t>Count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occurrences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letter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both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names.</a:t>
            </a:r>
            <a:endParaRPr sz="24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1440"/>
              </a:spcBef>
              <a:buAutoNum type="alphaLcPeriod"/>
              <a:tabLst>
                <a:tab pos="316865" algn="l"/>
              </a:tabLst>
            </a:pPr>
            <a:r>
              <a:rPr dirty="0" sz="2400">
                <a:latin typeface="Calibri"/>
                <a:cs typeface="Calibri"/>
              </a:rPr>
              <a:t>Combine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letter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counts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sequence.</a:t>
            </a:r>
            <a:endParaRPr sz="2400">
              <a:latin typeface="Calibri"/>
              <a:cs typeface="Calibri"/>
            </a:endParaRPr>
          </a:p>
          <a:p>
            <a:pPr marL="309245" indent="-296545">
              <a:lnSpc>
                <a:spcPct val="100000"/>
              </a:lnSpc>
              <a:spcBef>
                <a:spcPts val="1440"/>
              </a:spcBef>
              <a:buAutoNum type="alphaLcPeriod"/>
              <a:tabLst>
                <a:tab pos="309245" algn="l"/>
              </a:tabLst>
            </a:pPr>
            <a:r>
              <a:rPr dirty="0" sz="2400">
                <a:latin typeface="Calibri"/>
                <a:cs typeface="Calibri"/>
              </a:rPr>
              <a:t>Reduce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sequence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percentage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iterative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summation.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98762" y="0"/>
            <a:ext cx="7212965" cy="6606540"/>
            <a:chOff x="2998762" y="0"/>
            <a:chExt cx="7212965" cy="66065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8762" y="0"/>
              <a:ext cx="2495298" cy="23356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8466" y="725878"/>
              <a:ext cx="5702696" cy="588046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52410" y="1415351"/>
            <a:ext cx="3472179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solidFill>
                  <a:srgbClr val="000000"/>
                </a:solidFill>
              </a:rPr>
              <a:t>Conclusion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592287" y="2725496"/>
            <a:ext cx="6488430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5244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Restoring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Middle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Earth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Problem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Focused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 </a:t>
            </a:r>
            <a:r>
              <a:rPr dirty="0" sz="2400">
                <a:latin typeface="Calibri"/>
                <a:cs typeface="Calibri"/>
              </a:rPr>
              <a:t>minimizing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relocation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costs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refugees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using </a:t>
            </a:r>
            <a:r>
              <a:rPr dirty="0" sz="2400">
                <a:latin typeface="Calibri"/>
                <a:cs typeface="Calibri"/>
              </a:rPr>
              <a:t>efficient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grouping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strategies.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Highlights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dynamic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problem-</a:t>
            </a:r>
            <a:r>
              <a:rPr dirty="0" sz="2400">
                <a:latin typeface="Calibri"/>
                <a:cs typeface="Calibri"/>
              </a:rPr>
              <a:t>solving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optimization.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880"/>
              </a:spcBef>
            </a:pPr>
            <a:r>
              <a:rPr dirty="0" sz="2400" b="1">
                <a:latin typeface="Calibri"/>
                <a:cs typeface="Calibri"/>
              </a:rPr>
              <a:t>Love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Calculator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Problem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Focused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creating </a:t>
            </a:r>
            <a:r>
              <a:rPr dirty="0" sz="2400">
                <a:latin typeface="Calibri"/>
                <a:cs typeface="Calibri"/>
              </a:rPr>
              <a:t>entertaining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compatibility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scores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playful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string </a:t>
            </a:r>
            <a:r>
              <a:rPr dirty="0" sz="2400">
                <a:latin typeface="Calibri"/>
                <a:cs typeface="Calibri"/>
              </a:rPr>
              <a:t>manipulation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iterative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computation.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667000" y="878400"/>
            <a:ext cx="6629400" cy="4168775"/>
          </a:xfrm>
          <a:custGeom>
            <a:avLst/>
            <a:gdLst/>
            <a:ahLst/>
            <a:cxnLst/>
            <a:rect l="l" t="t" r="r" b="b"/>
            <a:pathLst>
              <a:path w="6629400" h="4168775">
                <a:moveTo>
                  <a:pt x="6629400" y="0"/>
                </a:moveTo>
                <a:lnTo>
                  <a:pt x="0" y="0"/>
                </a:lnTo>
                <a:lnTo>
                  <a:pt x="0" y="4168584"/>
                </a:lnTo>
                <a:lnTo>
                  <a:pt x="6629400" y="4168584"/>
                </a:lnTo>
                <a:lnTo>
                  <a:pt x="6629400" y="0"/>
                </a:lnTo>
                <a:close/>
              </a:path>
            </a:pathLst>
          </a:custGeom>
          <a:solidFill>
            <a:srgbClr val="0D0E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67386" y="849757"/>
            <a:ext cx="247523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1F1F1"/>
                </a:solidFill>
              </a:rPr>
              <a:t>Ask</a:t>
            </a:r>
            <a:r>
              <a:rPr dirty="0" sz="6000" spc="-40">
                <a:solidFill>
                  <a:srgbClr val="F1F1F1"/>
                </a:solidFill>
              </a:rPr>
              <a:t> </a:t>
            </a:r>
            <a:r>
              <a:rPr dirty="0" sz="6000" spc="-25">
                <a:solidFill>
                  <a:srgbClr val="F1F1F1"/>
                </a:solidFill>
              </a:rPr>
              <a:t>any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1876626" y="1764157"/>
            <a:ext cx="3456304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0" b="1">
                <a:solidFill>
                  <a:srgbClr val="F1F1F1"/>
                </a:solidFill>
                <a:latin typeface="Calibri"/>
                <a:cs typeface="Calibri"/>
              </a:rPr>
              <a:t>Question…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14052" y="5072748"/>
            <a:ext cx="1355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A6A6A6"/>
                </a:solidFill>
                <a:latin typeface="Calibri"/>
                <a:cs typeface="Calibri"/>
              </a:rPr>
              <a:t>Thank</a:t>
            </a:r>
            <a:r>
              <a:rPr dirty="0" sz="2400" spc="-20" b="1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A6A6A6"/>
                </a:solidFill>
                <a:latin typeface="Calibri"/>
                <a:cs typeface="Calibri"/>
              </a:rPr>
              <a:t>You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79181" y="5631307"/>
            <a:ext cx="9368155" cy="0"/>
          </a:xfrm>
          <a:custGeom>
            <a:avLst/>
            <a:gdLst/>
            <a:ahLst/>
            <a:cxnLst/>
            <a:rect l="l" t="t" r="r" b="b"/>
            <a:pathLst>
              <a:path w="9368155" h="0">
                <a:moveTo>
                  <a:pt x="0" y="0"/>
                </a:moveTo>
                <a:lnTo>
                  <a:pt x="9368116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2026-08-14T12:19:27Z</dcterms:created>
  <dcterms:modified xsi:type="dcterms:W3CDTF">2026-08-14T12:19:27Z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2026-08-14T00:00:00Z</vt:filetime>
  </property>
  <property fmtid="{D5CDD505-2E9C-101B-9397-08002B2CF9AE}" pid="4" name="LastSaved">
    <vt:filetime>2026-08-14T00:00:00Z</vt:filetime>
  </property>
  <property fmtid="{D5CDD505-2E9C-101B-9397-08002B2CF9AE}" pid="5" name="Producer">
    <vt:lpwstr>3-Heights(TM) PDF Security Shell 4.8.25.2 (http://www.pdf-tools.com)</vt:lpwstr>
  </property>
</Properties>
</file>